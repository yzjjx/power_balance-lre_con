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6" d="100"/>
          <a:sy n="116" d="100"/>
        </p:scale>
        <p:origin x="67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46F6191-97EA-0933-349C-B3293D6EAD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842FFBE-8A26-4F5A-3FED-63192191C6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25A67CF-63AE-9B8E-0C97-45A9A59B8D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1C212-C7DB-49BB-A40B-14D7B52B675C}" type="datetimeFigureOut">
              <a:rPr lang="zh-CN" altLang="en-US" smtClean="0"/>
              <a:t>2026/10/11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50703DA-1BFF-F19D-A3E2-0C7866E661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EEDD475-5886-D83C-59A0-7D2DFAF96B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1C5C3-8FF3-4F1D-9145-7763BB15C5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83198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D5EFC1-E038-516C-434A-E231291969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E11E254-2208-9713-B7BA-334FAE509A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94555A1-F735-C198-D5B7-329B01301E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1C212-C7DB-49BB-A40B-14D7B52B675C}" type="datetimeFigureOut">
              <a:rPr lang="zh-CN" altLang="en-US" smtClean="0"/>
              <a:t>2026/10/11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0562817-1B76-D0DC-6D31-8135DF968B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3013C0F-ACD2-ACC7-4B62-C140FB18AD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1C5C3-8FF3-4F1D-9145-7763BB15C5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65811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0CE373F-EE61-6CBF-2086-C63714D325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B2E6D1A-DAAD-F053-C4EC-C62AB7EC5B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F526BFB-EB67-CD20-BBFB-0220DFDBDE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1C212-C7DB-49BB-A40B-14D7B52B675C}" type="datetimeFigureOut">
              <a:rPr lang="zh-CN" altLang="en-US" smtClean="0"/>
              <a:t>2026/10/11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552BC80-8DFA-EFF7-F310-75551F34BC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E086263-9F34-9199-601C-9EE1A0DB3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1C5C3-8FF3-4F1D-9145-7763BB15C5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4814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E58A8C1-F83E-2207-28BE-9194C59A36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7D96830-021D-89E1-31D0-66ED424247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22F0A3A-C171-E5B6-E2BF-FF7C9E9D78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3E2E287-AF43-414B-4C64-805E96750E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1C212-C7DB-49BB-A40B-14D7B52B675C}" type="datetimeFigureOut">
              <a:rPr lang="zh-CN" altLang="en-US" smtClean="0"/>
              <a:t>2026/10/11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D9BAD7A-43A9-FDC4-4E4D-5CFA29A44B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2300C3B-E8AC-1267-54E3-329DCAAC0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1C5C3-8FF3-4F1D-9145-7763BB15C5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62168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BB7A6C-131F-6982-D23C-4EB6279AB4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FA95695-E324-1BB3-673F-57BBA28C77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3839EA1-0E15-90C1-EBAA-CD3538776E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71D8357-7585-4326-76A9-FE764E9E9B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6167181-6FBB-4770-3A86-2D0FB7CBDA8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37BD26D3-B705-13DD-2A0B-556F115C53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1C212-C7DB-49BB-A40B-14D7B52B675C}" type="datetimeFigureOut">
              <a:rPr lang="zh-CN" altLang="en-US" smtClean="0"/>
              <a:t>2026/10/11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A7C18D2-DB22-A687-E557-C3F05900F5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C801709-0C40-9B21-51B9-B3B6E2F03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1C5C3-8FF3-4F1D-9145-7763BB15C5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1340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C983F12-60C3-6823-E1BC-7E59150CD7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A9DE0F2F-EB4A-CCEF-24C2-37E8F6B4BE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1C212-C7DB-49BB-A40B-14D7B52B675C}" type="datetimeFigureOut">
              <a:rPr lang="zh-CN" altLang="en-US" smtClean="0"/>
              <a:t>2026/10/11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DBDE5D0-5618-4AD7-5A1F-D6CA5A24A2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43DE420-5750-3E91-ED35-88CAC455EF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1C5C3-8FF3-4F1D-9145-7763BB15C5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84009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8F5A504-1036-A039-2B2F-EA24AC6440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1C212-C7DB-49BB-A40B-14D7B52B675C}" type="datetimeFigureOut">
              <a:rPr lang="zh-CN" altLang="en-US" smtClean="0"/>
              <a:t>2026/10/11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33A7FB0-F74E-123D-8426-0C6D8D6E2F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487172F-2C6A-802A-A9D0-8CBAD7F7D7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1C5C3-8FF3-4F1D-9145-7763BB15C5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0135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0E26F44-C7F0-DD05-664F-2135B3E2F8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F6E5C93-682A-1894-7AEE-71BA99C12E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C7BB2F4-185D-83D0-66DF-D1B894FF88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4437103-1DCA-38E3-9D95-C9FD2B4F64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1C212-C7DB-49BB-A40B-14D7B52B675C}" type="datetimeFigureOut">
              <a:rPr lang="zh-CN" altLang="en-US" smtClean="0"/>
              <a:t>2026/10/11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D4E519D-751E-09C8-352A-2AB036E753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BF5B4B7-C577-F8CF-6792-F710C8272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1C5C3-8FF3-4F1D-9145-7763BB15C5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5573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1DABA2-261E-94DA-8740-3D098ED7A7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42160A53-B765-142A-45FD-798C19B4E0EC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A337812-1A72-482B-2445-7A2B429C41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B278801-1F30-3C5C-09EA-71E8A7AB5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1C212-C7DB-49BB-A40B-14D7B52B675C}" type="datetimeFigureOut">
              <a:rPr lang="zh-CN" altLang="en-US" smtClean="0"/>
              <a:t>2026/10/11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A6F32E1-CF62-2CD2-A965-68FCCCA50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6CB04DA-8604-BD23-378B-09F0202467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1C5C3-8FF3-4F1D-9145-7763BB15C5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40595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1C398B-6B0F-F7FE-D01D-8CC77D96D4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08E0B8A-7F9F-76D3-09B9-F9CEAB81A3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A98A655-A442-FA38-E1C1-89B484FB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1C212-C7DB-49BB-A40B-14D7B52B675C}" type="datetimeFigureOut">
              <a:rPr lang="zh-CN" altLang="en-US" smtClean="0"/>
              <a:t>2026/10/11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79FBBB6-6CCD-24EF-B467-21678D497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E102378-4228-9B97-7057-DB093E7ECE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1C5C3-8FF3-4F1D-9145-7763BB15C5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94597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86735625-6781-0693-40AA-E4D09C3C3CB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301F3FB-3AEB-A2E8-0D20-E7C376172F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B49B430-44B3-E90F-E516-8DBA8E0C51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1C212-C7DB-49BB-A40B-14D7B52B675C}" type="datetimeFigureOut">
              <a:rPr lang="zh-CN" altLang="en-US" smtClean="0"/>
              <a:t>2026/10/11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B6D974A-97A2-39E7-157D-07B59E9D77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6725E64-2DF7-C5CA-AAD4-73D3606E7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1C5C3-8FF3-4F1D-9145-7763BB15C5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71667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81BE988F-E24A-920F-98DA-A13CED26F1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E1388F5-6C2C-330A-0852-8FA8387F41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9590D5C-BF8F-A828-F8E4-523C01CBBEB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21C212-C7DB-49BB-A40B-14D7B52B675C}" type="datetimeFigureOut">
              <a:rPr lang="zh-CN" altLang="en-US" smtClean="0"/>
              <a:t>2026/10/11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13DE1D0-BF38-3D23-944C-B2BD869317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FC1AF43-4695-A971-F81F-90FE081693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D1C5C3-8FF3-4F1D-9145-7763BB15C5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53931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F41C7F7C-29D4-FF11-B1BD-334B4001C3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81" y="144725"/>
            <a:ext cx="2402417" cy="2286000"/>
          </a:xfrm>
          <a:prstGeom prst="rect">
            <a:avLst/>
          </a:prstGeom>
        </p:spPr>
      </p:pic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DB73C062-BC9C-EE5D-A86A-6C636BC8BF95}"/>
              </a:ext>
            </a:extLst>
          </p:cNvPr>
          <p:cNvCxnSpPr>
            <a:cxnSpLocks/>
          </p:cNvCxnSpPr>
          <p:nvPr/>
        </p:nvCxnSpPr>
        <p:spPr>
          <a:xfrm>
            <a:off x="5977588" y="0"/>
            <a:ext cx="0" cy="6858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图片 7">
            <a:extLst>
              <a:ext uri="{FF2B5EF4-FFF2-40B4-BE49-F238E27FC236}">
                <a16:creationId xmlns:a16="http://schemas.microsoft.com/office/drawing/2014/main" id="{F5F4B8F4-21B0-CA93-5029-5D8CDFDE09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990" y="2490281"/>
            <a:ext cx="5787890" cy="1344936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F3762A85-1121-8BB8-9E80-36B351E5CA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62067" y="190774"/>
            <a:ext cx="3126607" cy="1868271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B5F55F19-CA98-31B0-DC84-29D722C20CF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69734"/>
            <a:ext cx="5980066" cy="1305155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5E3A2909-36EE-F9A7-9915-132B4C078C31}"/>
              </a:ext>
            </a:extLst>
          </p:cNvPr>
          <p:cNvSpPr txBox="1"/>
          <p:nvPr/>
        </p:nvSpPr>
        <p:spPr>
          <a:xfrm>
            <a:off x="7395380" y="1434096"/>
            <a:ext cx="33813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符号计算代码输出与</a:t>
            </a:r>
            <a:r>
              <a:rPr lang="en-US" altLang="zh-CN" dirty="0"/>
              <a:t>M</a:t>
            </a:r>
            <a:r>
              <a:rPr lang="zh-CN" altLang="en-US" dirty="0"/>
              <a:t>矩阵相符</a:t>
            </a:r>
          </a:p>
        </p:txBody>
      </p: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F3D76A9E-ABBC-E49A-6F42-9C6B7CA12D89}"/>
              </a:ext>
            </a:extLst>
          </p:cNvPr>
          <p:cNvCxnSpPr>
            <a:cxnSpLocks/>
          </p:cNvCxnSpPr>
          <p:nvPr/>
        </p:nvCxnSpPr>
        <p:spPr>
          <a:xfrm flipH="1">
            <a:off x="473646" y="3039229"/>
            <a:ext cx="743361" cy="85554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文本框 14">
            <a:extLst>
              <a:ext uri="{FF2B5EF4-FFF2-40B4-BE49-F238E27FC236}">
                <a16:creationId xmlns:a16="http://schemas.microsoft.com/office/drawing/2014/main" id="{D41E0B07-648D-BE4B-91F4-4969B4F8503D}"/>
              </a:ext>
            </a:extLst>
          </p:cNvPr>
          <p:cNvSpPr txBox="1"/>
          <p:nvPr/>
        </p:nvSpPr>
        <p:spPr>
          <a:xfrm>
            <a:off x="66680" y="3894773"/>
            <a:ext cx="53210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势能函数通过</a:t>
            </a:r>
            <a:r>
              <a:rPr lang="en-US" altLang="zh-CN" dirty="0">
                <a:solidFill>
                  <a:srgbClr val="FF0000"/>
                </a:solidFill>
              </a:rPr>
              <a:t>G</a:t>
            </a:r>
            <a:r>
              <a:rPr lang="zh-CN" altLang="en-US" dirty="0">
                <a:solidFill>
                  <a:srgbClr val="FF0000"/>
                </a:solidFill>
              </a:rPr>
              <a:t>矩阵（重力矩阵）积分</a:t>
            </a:r>
            <a:r>
              <a:rPr lang="zh-CN" altLang="en-US" dirty="0"/>
              <a:t>得到，即：</a:t>
            </a:r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FED37183-682C-7581-C14E-CA37F39C09B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2486" y="4323661"/>
            <a:ext cx="2157721" cy="471339"/>
          </a:xfrm>
          <a:prstGeom prst="rect">
            <a:avLst/>
          </a:prstGeom>
        </p:spPr>
      </p:pic>
      <p:sp>
        <p:nvSpPr>
          <p:cNvPr id="19" name="矩形 18">
            <a:extLst>
              <a:ext uri="{FF2B5EF4-FFF2-40B4-BE49-F238E27FC236}">
                <a16:creationId xmlns:a16="http://schemas.microsoft.com/office/drawing/2014/main" id="{EF16FF69-9FED-FBB8-0738-2B38BDB69534}"/>
              </a:ext>
            </a:extLst>
          </p:cNvPr>
          <p:cNvSpPr/>
          <p:nvPr/>
        </p:nvSpPr>
        <p:spPr>
          <a:xfrm>
            <a:off x="124990" y="3894773"/>
            <a:ext cx="5451644" cy="94694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EAA55034-83C0-05D2-2B90-EF4BCFF70F59}"/>
              </a:ext>
            </a:extLst>
          </p:cNvPr>
          <p:cNvCxnSpPr/>
          <p:nvPr/>
        </p:nvCxnSpPr>
        <p:spPr>
          <a:xfrm>
            <a:off x="5977588" y="2059045"/>
            <a:ext cx="621441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文本框 21">
            <a:extLst>
              <a:ext uri="{FF2B5EF4-FFF2-40B4-BE49-F238E27FC236}">
                <a16:creationId xmlns:a16="http://schemas.microsoft.com/office/drawing/2014/main" id="{A9A40902-6533-1B93-AEA7-CFD3DEB72582}"/>
              </a:ext>
            </a:extLst>
          </p:cNvPr>
          <p:cNvSpPr txBox="1"/>
          <p:nvPr/>
        </p:nvSpPr>
        <p:spPr>
          <a:xfrm>
            <a:off x="5977587" y="2061393"/>
            <a:ext cx="24954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Step2</a:t>
            </a:r>
            <a:r>
              <a:rPr lang="zh-CN" altLang="en-US" dirty="0"/>
              <a:t>：势能函数推导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F99E36D5-6C82-3DA7-02B6-32E39FDFC32D}"/>
              </a:ext>
            </a:extLst>
          </p:cNvPr>
          <p:cNvSpPr txBox="1"/>
          <p:nvPr/>
        </p:nvSpPr>
        <p:spPr>
          <a:xfrm>
            <a:off x="5977587" y="2430725"/>
            <a:ext cx="42233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可以由</a:t>
            </a:r>
            <a:r>
              <a:rPr lang="en-US" altLang="zh-CN" dirty="0"/>
              <a:t>G</a:t>
            </a:r>
            <a:r>
              <a:rPr lang="zh-CN" altLang="en-US" dirty="0"/>
              <a:t>矩阵得到两个偏微分方程：</a:t>
            </a:r>
          </a:p>
        </p:txBody>
      </p:sp>
      <p:pic>
        <p:nvPicPr>
          <p:cNvPr id="26" name="图片 25">
            <a:extLst>
              <a:ext uri="{FF2B5EF4-FFF2-40B4-BE49-F238E27FC236}">
                <a16:creationId xmlns:a16="http://schemas.microsoft.com/office/drawing/2014/main" id="{ADA7F83D-47A3-727E-D69B-4816055E160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4413" y="2859379"/>
            <a:ext cx="5514905" cy="550939"/>
          </a:xfrm>
          <a:prstGeom prst="rect">
            <a:avLst/>
          </a:prstGeom>
        </p:spPr>
      </p:pic>
      <p:pic>
        <p:nvPicPr>
          <p:cNvPr id="29" name="图片 28">
            <a:extLst>
              <a:ext uri="{FF2B5EF4-FFF2-40B4-BE49-F238E27FC236}">
                <a16:creationId xmlns:a16="http://schemas.microsoft.com/office/drawing/2014/main" id="{96F50AD4-970A-AFBB-0B77-708E858A493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6499" y="3600390"/>
            <a:ext cx="4931292" cy="487564"/>
          </a:xfrm>
          <a:prstGeom prst="rect">
            <a:avLst/>
          </a:prstGeom>
        </p:spPr>
      </p:pic>
      <p:pic>
        <p:nvPicPr>
          <p:cNvPr id="32" name="图片 31">
            <a:extLst>
              <a:ext uri="{FF2B5EF4-FFF2-40B4-BE49-F238E27FC236}">
                <a16:creationId xmlns:a16="http://schemas.microsoft.com/office/drawing/2014/main" id="{6066657F-8608-60FC-7683-6514650B47B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6500" y="4209581"/>
            <a:ext cx="2271932" cy="487564"/>
          </a:xfrm>
          <a:prstGeom prst="rect">
            <a:avLst/>
          </a:prstGeom>
        </p:spPr>
      </p:pic>
      <p:sp>
        <p:nvSpPr>
          <p:cNvPr id="33" name="文本框 32">
            <a:extLst>
              <a:ext uri="{FF2B5EF4-FFF2-40B4-BE49-F238E27FC236}">
                <a16:creationId xmlns:a16="http://schemas.microsoft.com/office/drawing/2014/main" id="{6DCB29DD-E553-4B8B-F4CC-90B639917030}"/>
              </a:ext>
            </a:extLst>
          </p:cNvPr>
          <p:cNvSpPr txBox="1"/>
          <p:nvPr/>
        </p:nvSpPr>
        <p:spPr>
          <a:xfrm>
            <a:off x="5977587" y="4777573"/>
            <a:ext cx="62780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也就是说一个标量函数</a:t>
            </a:r>
            <a:r>
              <a:rPr lang="en-US" altLang="zh-CN" dirty="0"/>
              <a:t>U(q_1,q_2)</a:t>
            </a:r>
            <a:r>
              <a:rPr lang="zh-CN" altLang="en-US" dirty="0"/>
              <a:t>对两个关节求偏导可以得到上述两个表达式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14940F91-7BF8-D9D6-F56E-B61CD3282C93}"/>
              </a:ext>
            </a:extLst>
          </p:cNvPr>
          <p:cNvSpPr txBox="1"/>
          <p:nvPr/>
        </p:nvSpPr>
        <p:spPr>
          <a:xfrm>
            <a:off x="5977587" y="5500592"/>
            <a:ext cx="62780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因此公式</a:t>
            </a:r>
            <a:r>
              <a:rPr lang="en-US" altLang="zh-CN" dirty="0"/>
              <a:t>2</a:t>
            </a:r>
            <a:r>
              <a:rPr lang="zh-CN" altLang="en-US" dirty="0"/>
              <a:t>对</a:t>
            </a:r>
            <a:r>
              <a:rPr lang="en-US" altLang="zh-CN" dirty="0"/>
              <a:t>q2</a:t>
            </a:r>
            <a:r>
              <a:rPr lang="zh-CN" altLang="en-US" dirty="0"/>
              <a:t>求积分，再使用公式</a:t>
            </a:r>
            <a:r>
              <a:rPr lang="en-US" altLang="zh-CN" dirty="0"/>
              <a:t>1</a:t>
            </a:r>
            <a:r>
              <a:rPr lang="zh-CN" altLang="en-US" dirty="0"/>
              <a:t>求微分核对未知项，就可以得到方程</a:t>
            </a:r>
            <a:r>
              <a:rPr lang="en-US" altLang="zh-CN" dirty="0"/>
              <a:t>U</a:t>
            </a:r>
            <a:endParaRPr lang="zh-CN" altLang="en-US" dirty="0"/>
          </a:p>
        </p:txBody>
      </p:sp>
      <p:cxnSp>
        <p:nvCxnSpPr>
          <p:cNvPr id="36" name="直接箭头连接符 35">
            <a:extLst>
              <a:ext uri="{FF2B5EF4-FFF2-40B4-BE49-F238E27FC236}">
                <a16:creationId xmlns:a16="http://schemas.microsoft.com/office/drawing/2014/main" id="{2E80C15A-27D0-8094-619A-E9C0E9EE8A3B}"/>
              </a:ext>
            </a:extLst>
          </p:cNvPr>
          <p:cNvCxnSpPr>
            <a:cxnSpLocks/>
          </p:cNvCxnSpPr>
          <p:nvPr/>
        </p:nvCxnSpPr>
        <p:spPr>
          <a:xfrm flipH="1">
            <a:off x="592059" y="3410318"/>
            <a:ext cx="1105173" cy="18264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文本框 36">
            <a:extLst>
              <a:ext uri="{FF2B5EF4-FFF2-40B4-BE49-F238E27FC236}">
                <a16:creationId xmlns:a16="http://schemas.microsoft.com/office/drawing/2014/main" id="{7439F107-324B-705C-56A6-8DF1A84DFB48}"/>
              </a:ext>
            </a:extLst>
          </p:cNvPr>
          <p:cNvSpPr txBox="1"/>
          <p:nvPr/>
        </p:nvSpPr>
        <p:spPr>
          <a:xfrm>
            <a:off x="107695" y="5239238"/>
            <a:ext cx="546893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Rayleigh</a:t>
            </a:r>
            <a:r>
              <a:rPr lang="zh-CN" altLang="en-US" dirty="0"/>
              <a:t>耗散函数，用来描述机器人关节摩擦损耗</a:t>
            </a:r>
            <a:endParaRPr lang="en-US" altLang="zh-CN" dirty="0"/>
          </a:p>
          <a:p>
            <a:r>
              <a:rPr lang="zh-CN" altLang="en-US" dirty="0"/>
              <a:t>目前论文</a:t>
            </a:r>
            <a:r>
              <a:rPr lang="zh-CN" altLang="en-US" dirty="0">
                <a:solidFill>
                  <a:srgbClr val="FF0000"/>
                </a:solidFill>
              </a:rPr>
              <a:t>仅添加粘性摩擦</a:t>
            </a:r>
            <a:r>
              <a:rPr lang="zh-CN" altLang="en-US" dirty="0"/>
              <a:t>，可以推导加入库伦摩擦</a:t>
            </a:r>
            <a:endParaRPr lang="en-US" altLang="zh-CN" dirty="0"/>
          </a:p>
          <a:p>
            <a:r>
              <a:rPr lang="zh-CN" altLang="en-US" dirty="0"/>
              <a:t>耗散函数满足下面公式：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A856D054-B037-C03B-08B9-8CA60F5CEF5C}"/>
              </a:ext>
            </a:extLst>
          </p:cNvPr>
          <p:cNvSpPr/>
          <p:nvPr/>
        </p:nvSpPr>
        <p:spPr>
          <a:xfrm>
            <a:off x="166004" y="5236770"/>
            <a:ext cx="5451644" cy="154557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3" name="图片 42">
            <a:extLst>
              <a:ext uri="{FF2B5EF4-FFF2-40B4-BE49-F238E27FC236}">
                <a16:creationId xmlns:a16="http://schemas.microsoft.com/office/drawing/2014/main" id="{0165DC88-F441-5B3E-315A-5B74324AEDB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6887" y="6146923"/>
            <a:ext cx="1130733" cy="559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36512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5D24D5-2F3D-4601-A316-53EF0BE5BC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EE6395CD-0462-A84F-D52C-FDA1004B07C7}"/>
              </a:ext>
            </a:extLst>
          </p:cNvPr>
          <p:cNvCxnSpPr>
            <a:cxnSpLocks/>
          </p:cNvCxnSpPr>
          <p:nvPr/>
        </p:nvCxnSpPr>
        <p:spPr>
          <a:xfrm>
            <a:off x="5977588" y="0"/>
            <a:ext cx="0" cy="6858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图片 4">
            <a:extLst>
              <a:ext uri="{FF2B5EF4-FFF2-40B4-BE49-F238E27FC236}">
                <a16:creationId xmlns:a16="http://schemas.microsoft.com/office/drawing/2014/main" id="{180A4D3E-A7D4-8A33-AC92-3AF1046F4B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18" y="1024322"/>
            <a:ext cx="5565340" cy="297529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6E99550F-AE6C-68EF-66B0-96AD733753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53724"/>
            <a:ext cx="5736378" cy="896059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762FC472-AA7C-8C4E-D3D6-D05C36265542}"/>
              </a:ext>
            </a:extLst>
          </p:cNvPr>
          <p:cNvSpPr txBox="1"/>
          <p:nvPr/>
        </p:nvSpPr>
        <p:spPr>
          <a:xfrm>
            <a:off x="0" y="1420938"/>
            <a:ext cx="3664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代码输出公式与论文一致</a:t>
            </a:r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E5121583-DF26-FD50-C30F-78D0EEB3DD8F}"/>
              </a:ext>
            </a:extLst>
          </p:cNvPr>
          <p:cNvCxnSpPr/>
          <p:nvPr/>
        </p:nvCxnSpPr>
        <p:spPr>
          <a:xfrm>
            <a:off x="-1" y="1940633"/>
            <a:ext cx="597758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514CDA2E-EC8C-1317-3683-723EE2E85248}"/>
              </a:ext>
            </a:extLst>
          </p:cNvPr>
          <p:cNvSpPr txBox="1"/>
          <p:nvPr/>
        </p:nvSpPr>
        <p:spPr>
          <a:xfrm>
            <a:off x="-1" y="2039720"/>
            <a:ext cx="53219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耗散函数的推导直接用摩擦力对关节速度积分就行</a:t>
            </a: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6A752852-0938-D315-3AA8-A29EB133A5A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4889" y="2409052"/>
            <a:ext cx="2783252" cy="522432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701F55A8-499A-DD4A-60A9-816586E0B7D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7698" y="3009900"/>
            <a:ext cx="4238625" cy="838200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9D0C1D1A-9075-0339-107B-E91419AD9E72}"/>
              </a:ext>
            </a:extLst>
          </p:cNvPr>
          <p:cNvSpPr txBox="1"/>
          <p:nvPr/>
        </p:nvSpPr>
        <p:spPr>
          <a:xfrm>
            <a:off x="0" y="3926516"/>
            <a:ext cx="3664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代码输出公式与论文一致</a:t>
            </a:r>
          </a:p>
        </p:txBody>
      </p: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DA2AE257-1C91-9ACE-F37E-BAD1842B66AB}"/>
              </a:ext>
            </a:extLst>
          </p:cNvPr>
          <p:cNvCxnSpPr/>
          <p:nvPr/>
        </p:nvCxnSpPr>
        <p:spPr>
          <a:xfrm>
            <a:off x="-1" y="4512794"/>
            <a:ext cx="597758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文本框 18">
            <a:extLst>
              <a:ext uri="{FF2B5EF4-FFF2-40B4-BE49-F238E27FC236}">
                <a16:creationId xmlns:a16="http://schemas.microsoft.com/office/drawing/2014/main" id="{979967FF-5306-E56A-A4B3-D895ECFDC09F}"/>
              </a:ext>
            </a:extLst>
          </p:cNvPr>
          <p:cNvSpPr txBox="1"/>
          <p:nvPr/>
        </p:nvSpPr>
        <p:spPr>
          <a:xfrm>
            <a:off x="-1" y="4548034"/>
            <a:ext cx="54929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在得到势能函数和损耗函数后，最后是动能函数</a:t>
            </a:r>
            <a:endParaRPr lang="en-US" altLang="zh-CN" dirty="0"/>
          </a:p>
          <a:p>
            <a:r>
              <a:rPr lang="zh-CN" altLang="en-US" dirty="0"/>
              <a:t>动能函数可以由</a:t>
            </a:r>
            <a:r>
              <a:rPr lang="zh-CN" altLang="en-US" dirty="0">
                <a:solidFill>
                  <a:srgbClr val="FF0000"/>
                </a:solidFill>
              </a:rPr>
              <a:t>惯性矩阵</a:t>
            </a:r>
            <a:r>
              <a:rPr lang="en-US" altLang="zh-CN" dirty="0">
                <a:solidFill>
                  <a:srgbClr val="FF0000"/>
                </a:solidFill>
              </a:rPr>
              <a:t>M</a:t>
            </a:r>
            <a:r>
              <a:rPr lang="zh-CN" altLang="en-US" dirty="0"/>
              <a:t>得到，其公式为：</a:t>
            </a:r>
            <a:endParaRPr lang="en-US" altLang="zh-CN" dirty="0"/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4AF5E8A4-01AE-6C77-C7C5-E7BCDD86861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8116" y="5205525"/>
            <a:ext cx="1956798" cy="463074"/>
          </a:xfrm>
          <a:prstGeom prst="rect">
            <a:avLst/>
          </a:prstGeom>
        </p:spPr>
      </p:pic>
      <p:sp>
        <p:nvSpPr>
          <p:cNvPr id="23" name="文本框 22">
            <a:extLst>
              <a:ext uri="{FF2B5EF4-FFF2-40B4-BE49-F238E27FC236}">
                <a16:creationId xmlns:a16="http://schemas.microsoft.com/office/drawing/2014/main" id="{ECD0BE2B-5AF2-313B-60A4-E7E720C00F8F}"/>
              </a:ext>
            </a:extLst>
          </p:cNvPr>
          <p:cNvSpPr txBox="1"/>
          <p:nvPr/>
        </p:nvSpPr>
        <p:spPr>
          <a:xfrm>
            <a:off x="6096000" y="53724"/>
            <a:ext cx="49886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将动力学矩阵乘以</a:t>
            </a:r>
            <a:r>
              <a:rPr lang="en-US" altLang="zh-CN" dirty="0" err="1"/>
              <a:t>dq</a:t>
            </a:r>
            <a:r>
              <a:rPr lang="zh-CN" altLang="en-US" dirty="0"/>
              <a:t>的转置，得到功率方程</a:t>
            </a:r>
          </a:p>
        </p:txBody>
      </p:sp>
      <p:pic>
        <p:nvPicPr>
          <p:cNvPr id="26" name="图片 25">
            <a:extLst>
              <a:ext uri="{FF2B5EF4-FFF2-40B4-BE49-F238E27FC236}">
                <a16:creationId xmlns:a16="http://schemas.microsoft.com/office/drawing/2014/main" id="{BA3A87D2-DAEE-8C89-A3CA-D9F35DB9D0C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0988" y="527659"/>
            <a:ext cx="5679362" cy="356158"/>
          </a:xfrm>
          <a:prstGeom prst="rect">
            <a:avLst/>
          </a:prstGeom>
        </p:spPr>
      </p:pic>
      <p:sp>
        <p:nvSpPr>
          <p:cNvPr id="27" name="文本框 26">
            <a:extLst>
              <a:ext uri="{FF2B5EF4-FFF2-40B4-BE49-F238E27FC236}">
                <a16:creationId xmlns:a16="http://schemas.microsoft.com/office/drawing/2014/main" id="{D6D776B5-DB49-C0D5-BAB7-15BFE0ECED10}"/>
              </a:ext>
            </a:extLst>
          </p:cNvPr>
          <p:cNvSpPr txBox="1"/>
          <p:nvPr/>
        </p:nvSpPr>
        <p:spPr>
          <a:xfrm>
            <a:off x="6096000" y="988420"/>
            <a:ext cx="49886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功率回归方程，就是将等号右边的一大坨线性化</a:t>
            </a:r>
            <a:endParaRPr lang="en-US" altLang="zh-CN" dirty="0"/>
          </a:p>
          <a:p>
            <a:r>
              <a:rPr lang="zh-CN" altLang="en-US" dirty="0"/>
              <a:t>也就是下面的回归方程：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1EDE7096-E738-5A60-8B30-4E4AE265C769}"/>
              </a:ext>
            </a:extLst>
          </p:cNvPr>
          <p:cNvSpPr txBox="1"/>
          <p:nvPr/>
        </p:nvSpPr>
        <p:spPr>
          <a:xfrm>
            <a:off x="6071875" y="2109869"/>
            <a:ext cx="5977587" cy="64633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dirty="0"/>
              <a:t>目前代码运行顺序：</a:t>
            </a:r>
            <a:endParaRPr lang="en-US" altLang="zh-CN" dirty="0"/>
          </a:p>
          <a:p>
            <a:r>
              <a:rPr lang="en-US" altLang="zh-CN" dirty="0" err="1"/>
              <a:t>RNEA_SYM.m</a:t>
            </a:r>
            <a:r>
              <a:rPr lang="en-US" altLang="zh-CN" dirty="0"/>
              <a:t>   </a:t>
            </a:r>
            <a:r>
              <a:rPr lang="en-US" altLang="zh-CN" dirty="0" err="1"/>
              <a:t>data_verify.m</a:t>
            </a:r>
            <a:r>
              <a:rPr lang="en-US" altLang="zh-CN" dirty="0"/>
              <a:t>  </a:t>
            </a:r>
            <a:r>
              <a:rPr lang="en-US" altLang="zh-CN" dirty="0" err="1"/>
              <a:t>MAT_out.m</a:t>
            </a:r>
            <a:r>
              <a:rPr lang="en-US" altLang="zh-CN" dirty="0"/>
              <a:t>  </a:t>
            </a:r>
            <a:r>
              <a:rPr lang="en-US" altLang="zh-CN" dirty="0" err="1"/>
              <a:t>add_friction.m</a:t>
            </a:r>
            <a:r>
              <a:rPr lang="en-US" altLang="zh-CN" dirty="0"/>
              <a:t>  </a:t>
            </a:r>
            <a:endParaRPr lang="zh-CN" altLang="en-US" dirty="0"/>
          </a:p>
        </p:txBody>
      </p:sp>
      <p:pic>
        <p:nvPicPr>
          <p:cNvPr id="31" name="图片 30">
            <a:extLst>
              <a:ext uri="{FF2B5EF4-FFF2-40B4-BE49-F238E27FC236}">
                <a16:creationId xmlns:a16="http://schemas.microsoft.com/office/drawing/2014/main" id="{3FC7AA05-FA38-05A3-7615-B65531B4A01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7035" y="1714363"/>
            <a:ext cx="1525100" cy="327356"/>
          </a:xfrm>
          <a:prstGeom prst="rect">
            <a:avLst/>
          </a:prstGeom>
        </p:spPr>
      </p:pic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7C99ECE8-8377-EED0-071C-60100B18BC4C}"/>
              </a:ext>
            </a:extLst>
          </p:cNvPr>
          <p:cNvCxnSpPr/>
          <p:nvPr/>
        </p:nvCxnSpPr>
        <p:spPr>
          <a:xfrm>
            <a:off x="5977588" y="3009900"/>
            <a:ext cx="621441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文本框 34">
            <a:extLst>
              <a:ext uri="{FF2B5EF4-FFF2-40B4-BE49-F238E27FC236}">
                <a16:creationId xmlns:a16="http://schemas.microsoft.com/office/drawing/2014/main" id="{088BDCAB-7444-61C8-E1A4-B5943DE03403}"/>
              </a:ext>
            </a:extLst>
          </p:cNvPr>
          <p:cNvSpPr txBox="1"/>
          <p:nvPr/>
        </p:nvSpPr>
        <p:spPr>
          <a:xfrm>
            <a:off x="6096000" y="3115016"/>
            <a:ext cx="609599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因为原始数据可能需要在</a:t>
            </a:r>
            <a:r>
              <a:rPr lang="en-US" altLang="zh-CN" dirty="0"/>
              <a:t>Y</a:t>
            </a:r>
            <a:r>
              <a:rPr lang="zh-CN" altLang="en-US" dirty="0"/>
              <a:t>中引入加速度项，但是在实际机器人上，</a:t>
            </a:r>
            <a:r>
              <a:rPr lang="zh-CN" altLang="en-US" dirty="0">
                <a:solidFill>
                  <a:srgbClr val="FF0000"/>
                </a:solidFill>
              </a:rPr>
              <a:t>加速度项很难采集</a:t>
            </a:r>
            <a:r>
              <a:rPr lang="zh-CN" altLang="en-US" dirty="0"/>
              <a:t>，因此在等式两边施加相同的</a:t>
            </a:r>
            <a:r>
              <a:rPr lang="zh-CN" altLang="en-US" dirty="0">
                <a:solidFill>
                  <a:srgbClr val="FF0000"/>
                </a:solidFill>
              </a:rPr>
              <a:t>一阶线性滤波器</a:t>
            </a:r>
          </a:p>
        </p:txBody>
      </p:sp>
      <p:pic>
        <p:nvPicPr>
          <p:cNvPr id="38" name="图片 37">
            <a:extLst>
              <a:ext uri="{FF2B5EF4-FFF2-40B4-BE49-F238E27FC236}">
                <a16:creationId xmlns:a16="http://schemas.microsoft.com/office/drawing/2014/main" id="{D15485CC-1693-F44C-EF45-699072C68C1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7406" y="4079167"/>
            <a:ext cx="2252562" cy="447296"/>
          </a:xfrm>
          <a:prstGeom prst="rect">
            <a:avLst/>
          </a:prstGeom>
        </p:spPr>
      </p:pic>
      <p:sp>
        <p:nvSpPr>
          <p:cNvPr id="39" name="文本框 38">
            <a:extLst>
              <a:ext uri="{FF2B5EF4-FFF2-40B4-BE49-F238E27FC236}">
                <a16:creationId xmlns:a16="http://schemas.microsoft.com/office/drawing/2014/main" id="{CD66C6E0-8109-EB0E-6E6F-6E0A48140EF2}"/>
              </a:ext>
            </a:extLst>
          </p:cNvPr>
          <p:cNvSpPr txBox="1"/>
          <p:nvPr/>
        </p:nvSpPr>
        <p:spPr>
          <a:xfrm>
            <a:off x="6071875" y="4584223"/>
            <a:ext cx="60959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可以得到最终回归方程为：</a:t>
            </a:r>
            <a:endParaRPr lang="zh-CN" altLang="en-US" dirty="0">
              <a:solidFill>
                <a:srgbClr val="FF0000"/>
              </a:solidFill>
            </a:endParaRPr>
          </a:p>
        </p:txBody>
      </p:sp>
      <p:pic>
        <p:nvPicPr>
          <p:cNvPr id="42" name="图片 41">
            <a:extLst>
              <a:ext uri="{FF2B5EF4-FFF2-40B4-BE49-F238E27FC236}">
                <a16:creationId xmlns:a16="http://schemas.microsoft.com/office/drawing/2014/main" id="{EEBA7FB9-35E4-38A1-6B37-9776A6F659E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63666" y="4948974"/>
            <a:ext cx="994004" cy="317529"/>
          </a:xfrm>
          <a:prstGeom prst="rect">
            <a:avLst/>
          </a:prstGeom>
        </p:spPr>
      </p:pic>
      <p:sp>
        <p:nvSpPr>
          <p:cNvPr id="44" name="文本框 43">
            <a:extLst>
              <a:ext uri="{FF2B5EF4-FFF2-40B4-BE49-F238E27FC236}">
                <a16:creationId xmlns:a16="http://schemas.microsoft.com/office/drawing/2014/main" id="{57374FD8-3950-302B-5D54-8C2BA243893F}"/>
              </a:ext>
            </a:extLst>
          </p:cNvPr>
          <p:cNvSpPr txBox="1"/>
          <p:nvPr/>
        </p:nvSpPr>
        <p:spPr>
          <a:xfrm>
            <a:off x="6096002" y="6019801"/>
            <a:ext cx="60959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因此下面几页</a:t>
            </a:r>
            <a:r>
              <a:rPr lang="en-US" altLang="zh-CN" dirty="0"/>
              <a:t>PPT</a:t>
            </a:r>
            <a:r>
              <a:rPr lang="zh-CN" altLang="en-US" dirty="0"/>
              <a:t>集中在</a:t>
            </a:r>
            <a:r>
              <a:rPr lang="zh-CN" altLang="en-US" dirty="0">
                <a:solidFill>
                  <a:srgbClr val="FF0000"/>
                </a:solidFill>
              </a:rPr>
              <a:t>功率平衡线性回归方程</a:t>
            </a:r>
            <a:r>
              <a:rPr lang="zh-CN" altLang="en-US" dirty="0"/>
              <a:t>的推导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AB098196-1614-5460-A45A-4B232CF2E202}"/>
              </a:ext>
            </a:extLst>
          </p:cNvPr>
          <p:cNvSpPr txBox="1"/>
          <p:nvPr/>
        </p:nvSpPr>
        <p:spPr>
          <a:xfrm>
            <a:off x="9654368" y="1369345"/>
            <a:ext cx="25135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也就是输入</a:t>
            </a:r>
            <a:r>
              <a:rPr lang="zh-CN" altLang="en-US" dirty="0">
                <a:solidFill>
                  <a:srgbClr val="FF0000"/>
                </a:solidFill>
              </a:rPr>
              <a:t>机械功率</a:t>
            </a:r>
            <a:r>
              <a:rPr lang="en-US" altLang="zh-CN" dirty="0">
                <a:solidFill>
                  <a:srgbClr val="FF0000"/>
                </a:solidFill>
              </a:rPr>
              <a:t>=</a:t>
            </a:r>
            <a:r>
              <a:rPr lang="zh-CN" altLang="en-US" dirty="0">
                <a:solidFill>
                  <a:srgbClr val="FF0000"/>
                </a:solidFill>
              </a:rPr>
              <a:t>动能</a:t>
            </a:r>
            <a:r>
              <a:rPr lang="en-US" altLang="zh-CN" dirty="0">
                <a:solidFill>
                  <a:srgbClr val="FF0000"/>
                </a:solidFill>
              </a:rPr>
              <a:t>+</a:t>
            </a:r>
            <a:r>
              <a:rPr lang="zh-CN" altLang="en-US" dirty="0">
                <a:solidFill>
                  <a:srgbClr val="FF0000"/>
                </a:solidFill>
              </a:rPr>
              <a:t>势能</a:t>
            </a:r>
            <a:r>
              <a:rPr lang="en-US" altLang="zh-CN" dirty="0">
                <a:solidFill>
                  <a:srgbClr val="FF0000"/>
                </a:solidFill>
              </a:rPr>
              <a:t>+</a:t>
            </a:r>
            <a:r>
              <a:rPr lang="zh-CN" altLang="en-US" dirty="0">
                <a:solidFill>
                  <a:srgbClr val="FF0000"/>
                </a:solidFill>
              </a:rPr>
              <a:t>摩擦损耗</a:t>
            </a: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D33D7F3D-98E7-5E2C-8B7A-E5CDB345B95D}"/>
              </a:ext>
            </a:extLst>
          </p:cNvPr>
          <p:cNvSpPr txBox="1"/>
          <p:nvPr/>
        </p:nvSpPr>
        <p:spPr>
          <a:xfrm>
            <a:off x="6012669" y="5345433"/>
            <a:ext cx="60959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在运行的时候只需要得到</a:t>
            </a:r>
            <a:r>
              <a:rPr lang="en-US" altLang="zh-CN" dirty="0">
                <a:solidFill>
                  <a:srgbClr val="FF0000"/>
                </a:solidFill>
              </a:rPr>
              <a:t>q</a:t>
            </a:r>
            <a:r>
              <a:rPr lang="zh-CN" altLang="en-US" dirty="0">
                <a:solidFill>
                  <a:srgbClr val="FF0000"/>
                </a:solidFill>
              </a:rPr>
              <a:t>，</a:t>
            </a:r>
            <a:r>
              <a:rPr lang="en-US" altLang="zh-CN" dirty="0" err="1">
                <a:solidFill>
                  <a:srgbClr val="FF0000"/>
                </a:solidFill>
              </a:rPr>
              <a:t>dq</a:t>
            </a:r>
            <a:r>
              <a:rPr lang="zh-CN" altLang="en-US" dirty="0">
                <a:solidFill>
                  <a:srgbClr val="FF0000"/>
                </a:solidFill>
              </a:rPr>
              <a:t>，</a:t>
            </a:r>
            <a:r>
              <a:rPr lang="en-US" altLang="zh-CN" dirty="0">
                <a:solidFill>
                  <a:srgbClr val="FF0000"/>
                </a:solidFill>
              </a:rPr>
              <a:t>tau</a:t>
            </a:r>
            <a:r>
              <a:rPr lang="zh-CN" altLang="en-US" dirty="0">
                <a:solidFill>
                  <a:srgbClr val="FF0000"/>
                </a:solidFill>
              </a:rPr>
              <a:t>和滤波器的内部状态</a:t>
            </a:r>
            <a:r>
              <a:rPr lang="zh-CN" altLang="en-US" dirty="0"/>
              <a:t>，不用直接得到</a:t>
            </a:r>
            <a:r>
              <a:rPr lang="en-US" altLang="zh-CN" dirty="0" err="1"/>
              <a:t>ddq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049861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FB91B-2073-95EB-87D1-94B4BA384F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C164CC1F-A008-FD19-0C7F-C4AE688FC0BF}"/>
              </a:ext>
            </a:extLst>
          </p:cNvPr>
          <p:cNvCxnSpPr>
            <a:cxnSpLocks/>
          </p:cNvCxnSpPr>
          <p:nvPr/>
        </p:nvCxnSpPr>
        <p:spPr>
          <a:xfrm>
            <a:off x="5977588" y="0"/>
            <a:ext cx="0" cy="6858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图片 3">
            <a:extLst>
              <a:ext uri="{FF2B5EF4-FFF2-40B4-BE49-F238E27FC236}">
                <a16:creationId xmlns:a16="http://schemas.microsoft.com/office/drawing/2014/main" id="{61E6D0C2-226D-E1AB-940C-639C95BFB5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774" y="1756117"/>
            <a:ext cx="1894584" cy="1578312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00305155-8904-D10D-2D97-AAE6721C93A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029"/>
          <a:stretch>
            <a:fillRect/>
          </a:stretch>
        </p:blipFill>
        <p:spPr>
          <a:xfrm>
            <a:off x="144011" y="3869768"/>
            <a:ext cx="4234175" cy="2292409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454B3573-BC69-8F10-1F11-E76BC36C1A4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2521" r="54730" b="40860"/>
          <a:stretch>
            <a:fillRect/>
          </a:stretch>
        </p:blipFill>
        <p:spPr>
          <a:xfrm>
            <a:off x="190774" y="3523572"/>
            <a:ext cx="3417154" cy="346196"/>
          </a:xfrm>
          <a:prstGeom prst="rect">
            <a:avLst/>
          </a:prstGeom>
        </p:spPr>
      </p:pic>
      <p:sp>
        <p:nvSpPr>
          <p:cNvPr id="24" name="文本框 23">
            <a:extLst>
              <a:ext uri="{FF2B5EF4-FFF2-40B4-BE49-F238E27FC236}">
                <a16:creationId xmlns:a16="http://schemas.microsoft.com/office/drawing/2014/main" id="{47E8F7F3-E4EB-A487-03FB-0CAF5177633A}"/>
              </a:ext>
            </a:extLst>
          </p:cNvPr>
          <p:cNvSpPr txBox="1"/>
          <p:nvPr/>
        </p:nvSpPr>
        <p:spPr>
          <a:xfrm>
            <a:off x="4494829" y="4000309"/>
            <a:ext cx="136611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前两项为摩擦项</a:t>
            </a:r>
            <a:endParaRPr lang="en-US" altLang="zh-CN" dirty="0"/>
          </a:p>
          <a:p>
            <a:r>
              <a:rPr lang="zh-CN" altLang="en-US" dirty="0"/>
              <a:t>后面五项都可以表示成某个能量函数的时间导数</a:t>
            </a:r>
            <a:endParaRPr lang="en-US" altLang="zh-CN" dirty="0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F84EB6A7-4F4F-C90C-4B0F-1742433D823F}"/>
              </a:ext>
            </a:extLst>
          </p:cNvPr>
          <p:cNvSpPr txBox="1"/>
          <p:nvPr/>
        </p:nvSpPr>
        <p:spPr>
          <a:xfrm>
            <a:off x="60618" y="6211669"/>
            <a:ext cx="591697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dirty="0"/>
              <a:t>因为动能和势能的变化率可以直接写成时间的导数；但是累计耗散能量以来整个运动过程</a:t>
            </a:r>
            <a:endParaRPr lang="en-US" altLang="zh-CN" sz="1800" dirty="0"/>
          </a:p>
        </p:txBody>
      </p: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ED32C51C-86D4-839F-1FA5-B33955ABB0AA}"/>
              </a:ext>
            </a:extLst>
          </p:cNvPr>
          <p:cNvCxnSpPr/>
          <p:nvPr/>
        </p:nvCxnSpPr>
        <p:spPr>
          <a:xfrm flipV="1">
            <a:off x="4045727" y="5894262"/>
            <a:ext cx="532851" cy="31740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文本框 32">
            <a:extLst>
              <a:ext uri="{FF2B5EF4-FFF2-40B4-BE49-F238E27FC236}">
                <a16:creationId xmlns:a16="http://schemas.microsoft.com/office/drawing/2014/main" id="{BF54AAEB-DC96-214C-AB77-2830FE17BDDE}"/>
              </a:ext>
            </a:extLst>
          </p:cNvPr>
          <p:cNvSpPr txBox="1"/>
          <p:nvPr/>
        </p:nvSpPr>
        <p:spPr>
          <a:xfrm>
            <a:off x="5980628" y="0"/>
            <a:ext cx="319272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以一关节模型为例：</a:t>
            </a:r>
            <a:endParaRPr lang="en-US" altLang="zh-CN" dirty="0"/>
          </a:p>
          <a:p>
            <a:r>
              <a:rPr lang="zh-CN" altLang="en-US" dirty="0"/>
              <a:t>一关节动力学模型假设为：</a:t>
            </a:r>
            <a:endParaRPr lang="en-US" altLang="zh-CN" dirty="0"/>
          </a:p>
          <a:p>
            <a:endParaRPr lang="en-US" altLang="zh-CN" dirty="0"/>
          </a:p>
        </p:txBody>
      </p:sp>
      <p:pic>
        <p:nvPicPr>
          <p:cNvPr id="40" name="图片 39">
            <a:extLst>
              <a:ext uri="{FF2B5EF4-FFF2-40B4-BE49-F238E27FC236}">
                <a16:creationId xmlns:a16="http://schemas.microsoft.com/office/drawing/2014/main" id="{284F1607-4102-F4BA-01AA-DEA747EBC74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1128" y="352075"/>
            <a:ext cx="1591978" cy="248676"/>
          </a:xfrm>
          <a:prstGeom prst="rect">
            <a:avLst/>
          </a:prstGeom>
        </p:spPr>
      </p:pic>
      <p:sp>
        <p:nvSpPr>
          <p:cNvPr id="43" name="文本框 42">
            <a:extLst>
              <a:ext uri="{FF2B5EF4-FFF2-40B4-BE49-F238E27FC236}">
                <a16:creationId xmlns:a16="http://schemas.microsoft.com/office/drawing/2014/main" id="{7B5493BC-BFEA-40B5-0A5B-23915B58D291}"/>
              </a:ext>
            </a:extLst>
          </p:cNvPr>
          <p:cNvSpPr txBox="1"/>
          <p:nvPr/>
        </p:nvSpPr>
        <p:spPr>
          <a:xfrm>
            <a:off x="5977588" y="715288"/>
            <a:ext cx="60949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dirty="0"/>
              <a:t>两边同时乘以速度，就得到功率方程</a:t>
            </a: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103FE564-9BCE-6D4E-8927-DDC2102165FC}"/>
              </a:ext>
            </a:extLst>
          </p:cNvPr>
          <p:cNvSpPr txBox="1"/>
          <p:nvPr/>
        </p:nvSpPr>
        <p:spPr>
          <a:xfrm>
            <a:off x="5977588" y="1387468"/>
            <a:ext cx="60949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dirty="0"/>
              <a:t>对于功率方程，下面的导数恒等式成立：</a:t>
            </a:r>
          </a:p>
        </p:txBody>
      </p:sp>
      <p:pic>
        <p:nvPicPr>
          <p:cNvPr id="48" name="图片 47">
            <a:extLst>
              <a:ext uri="{FF2B5EF4-FFF2-40B4-BE49-F238E27FC236}">
                <a16:creationId xmlns:a16="http://schemas.microsoft.com/office/drawing/2014/main" id="{35BA034E-EDF3-4339-3836-3A69EE133BC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13834" y="1084620"/>
            <a:ext cx="2094588" cy="253356"/>
          </a:xfrm>
          <a:prstGeom prst="rect">
            <a:avLst/>
          </a:prstGeom>
        </p:spPr>
      </p:pic>
      <p:pic>
        <p:nvPicPr>
          <p:cNvPr id="51" name="图片 50">
            <a:extLst>
              <a:ext uri="{FF2B5EF4-FFF2-40B4-BE49-F238E27FC236}">
                <a16:creationId xmlns:a16="http://schemas.microsoft.com/office/drawing/2014/main" id="{22470A9B-E705-23FB-919C-8DC5FEC1AAD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4604" y="1756117"/>
            <a:ext cx="1089736" cy="369333"/>
          </a:xfrm>
          <a:prstGeom prst="rect">
            <a:avLst/>
          </a:prstGeom>
        </p:spPr>
      </p:pic>
      <p:sp>
        <p:nvSpPr>
          <p:cNvPr id="52" name="文本框 51">
            <a:extLst>
              <a:ext uri="{FF2B5EF4-FFF2-40B4-BE49-F238E27FC236}">
                <a16:creationId xmlns:a16="http://schemas.microsoft.com/office/drawing/2014/main" id="{824C9EAB-07B2-957C-0332-6E9EDEBDFE93}"/>
              </a:ext>
            </a:extLst>
          </p:cNvPr>
          <p:cNvSpPr txBox="1"/>
          <p:nvPr/>
        </p:nvSpPr>
        <p:spPr>
          <a:xfrm>
            <a:off x="5977588" y="2132449"/>
            <a:ext cx="60949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dirty="0"/>
              <a:t>所以整个功率方程可以改写为：</a:t>
            </a:r>
            <a:endParaRPr lang="en-US" altLang="zh-CN" sz="1800" dirty="0"/>
          </a:p>
        </p:txBody>
      </p:sp>
      <p:pic>
        <p:nvPicPr>
          <p:cNvPr id="55" name="图片 54">
            <a:extLst>
              <a:ext uri="{FF2B5EF4-FFF2-40B4-BE49-F238E27FC236}">
                <a16:creationId xmlns:a16="http://schemas.microsoft.com/office/drawing/2014/main" id="{19F8C42E-4D40-4CCC-22CD-91747A8E842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17994" y="2508780"/>
            <a:ext cx="1686267" cy="381206"/>
          </a:xfrm>
          <a:prstGeom prst="rect">
            <a:avLst/>
          </a:prstGeom>
        </p:spPr>
      </p:pic>
      <p:pic>
        <p:nvPicPr>
          <p:cNvPr id="58" name="图片 57">
            <a:extLst>
              <a:ext uri="{FF2B5EF4-FFF2-40B4-BE49-F238E27FC236}">
                <a16:creationId xmlns:a16="http://schemas.microsoft.com/office/drawing/2014/main" id="{56EAD628-A147-DCC6-5E65-38CA6CFBD3D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6833" y="3344869"/>
            <a:ext cx="3845278" cy="469228"/>
          </a:xfrm>
          <a:prstGeom prst="rect">
            <a:avLst/>
          </a:prstGeom>
        </p:spPr>
      </p:pic>
      <p:sp>
        <p:nvSpPr>
          <p:cNvPr id="59" name="文本框 58">
            <a:extLst>
              <a:ext uri="{FF2B5EF4-FFF2-40B4-BE49-F238E27FC236}">
                <a16:creationId xmlns:a16="http://schemas.microsoft.com/office/drawing/2014/main" id="{324B49E3-3972-AE95-1237-36D180B80387}"/>
              </a:ext>
            </a:extLst>
          </p:cNvPr>
          <p:cNvSpPr txBox="1"/>
          <p:nvPr/>
        </p:nvSpPr>
        <p:spPr>
          <a:xfrm>
            <a:off x="5977588" y="2956664"/>
            <a:ext cx="60949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dirty="0"/>
              <a:t>对两边同时滤波处理：</a:t>
            </a:r>
            <a:endParaRPr lang="en-US" altLang="zh-CN" sz="1800" dirty="0"/>
          </a:p>
        </p:txBody>
      </p:sp>
      <p:cxnSp>
        <p:nvCxnSpPr>
          <p:cNvPr id="61" name="直接连接符 60">
            <a:extLst>
              <a:ext uri="{FF2B5EF4-FFF2-40B4-BE49-F238E27FC236}">
                <a16:creationId xmlns:a16="http://schemas.microsoft.com/office/drawing/2014/main" id="{AF9B3AE9-D0BF-1CF3-6658-8B510D499BBF}"/>
              </a:ext>
            </a:extLst>
          </p:cNvPr>
          <p:cNvCxnSpPr/>
          <p:nvPr/>
        </p:nvCxnSpPr>
        <p:spPr>
          <a:xfrm>
            <a:off x="5977588" y="3869768"/>
            <a:ext cx="621441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文本框 61">
            <a:extLst>
              <a:ext uri="{FF2B5EF4-FFF2-40B4-BE49-F238E27FC236}">
                <a16:creationId xmlns:a16="http://schemas.microsoft.com/office/drawing/2014/main" id="{1D963457-AC0C-8293-6607-6A6B30ED567F}"/>
              </a:ext>
            </a:extLst>
          </p:cNvPr>
          <p:cNvSpPr txBox="1"/>
          <p:nvPr/>
        </p:nvSpPr>
        <p:spPr>
          <a:xfrm>
            <a:off x="6094233" y="3925440"/>
            <a:ext cx="40544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状态方程包含状态的一阶时间导数</a:t>
            </a:r>
          </a:p>
        </p:txBody>
      </p:sp>
    </p:spTree>
    <p:extLst>
      <p:ext uri="{BB962C8B-B14F-4D97-AF65-F5344CB8AC3E}">
        <p14:creationId xmlns:p14="http://schemas.microsoft.com/office/powerpoint/2010/main" val="41275283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72A0ABE9-F290-60AE-709E-6DF03C3C4325}"/>
              </a:ext>
            </a:extLst>
          </p:cNvPr>
          <p:cNvCxnSpPr>
            <a:cxnSpLocks/>
          </p:cNvCxnSpPr>
          <p:nvPr/>
        </p:nvCxnSpPr>
        <p:spPr>
          <a:xfrm>
            <a:off x="5977588" y="0"/>
            <a:ext cx="0" cy="6858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486A2E9C-26A3-79FE-25BA-5CB66263A0AF}"/>
              </a:ext>
            </a:extLst>
          </p:cNvPr>
          <p:cNvCxnSpPr/>
          <p:nvPr/>
        </p:nvCxnSpPr>
        <p:spPr>
          <a:xfrm>
            <a:off x="5977588" y="3009900"/>
            <a:ext cx="621441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734186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1730</TotalTime>
  <Words>657</Words>
  <Application>Microsoft Office PowerPoint</Application>
  <PresentationFormat>宽屏</PresentationFormat>
  <Paragraphs>34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8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智健 尹</dc:creator>
  <cp:lastModifiedBy>智健 尹</cp:lastModifiedBy>
  <cp:revision>8</cp:revision>
  <dcterms:created xsi:type="dcterms:W3CDTF">2026-10-11T03:22:48Z</dcterms:created>
  <dcterms:modified xsi:type="dcterms:W3CDTF">2026-10-12T08:13:31Z</dcterms:modified>
</cp:coreProperties>
</file>